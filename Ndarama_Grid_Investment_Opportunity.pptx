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71b412f52bc40d1" /><Relationship Type="http://schemas.openxmlformats.org/officeDocument/2006/relationships/extended-properties" Target="/docProps/app.xml" Id="Rc8dc725faf54478c" /><Relationship Type="http://schemas.openxmlformats.org/officeDocument/2006/relationships/officeDocument" Target="/ppt/presentation.xml" Id="R4691517536d44de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c9b6ad9e1c04272"/>
  </p:sldMasterIdLst>
  <p:notesMasterIdLst>
    <p:notesMasterId xmlns:r="http://schemas.openxmlformats.org/officeDocument/2006/relationships" r:id="R3e078dcb061b4917"/>
  </p:notesMasterIdLst>
  <p:sldIdLst>
    <p:sldId xmlns:r="http://schemas.openxmlformats.org/officeDocument/2006/relationships" id="256" r:id="Rf2b0a42cbde940dc"/>
    <p:sldId xmlns:r="http://schemas.openxmlformats.org/officeDocument/2006/relationships" id="257" r:id="R38adc28b6f404dd8"/>
    <p:sldId xmlns:r="http://schemas.openxmlformats.org/officeDocument/2006/relationships" id="258" r:id="Rf0a80573edce40d0"/>
    <p:sldId xmlns:r="http://schemas.openxmlformats.org/officeDocument/2006/relationships" id="259" r:id="R60e9e3aa97654eeb"/>
    <p:sldId xmlns:r="http://schemas.openxmlformats.org/officeDocument/2006/relationships" id="260" r:id="Rde6b2201f9604dfa"/>
    <p:sldId xmlns:r="http://schemas.openxmlformats.org/officeDocument/2006/relationships" id="261" r:id="R82e003a51ef34dae"/>
    <p:sldId xmlns:r="http://schemas.openxmlformats.org/officeDocument/2006/relationships" id="262" r:id="R6ed9c942f4434b69"/>
    <p:sldId xmlns:r="http://schemas.openxmlformats.org/officeDocument/2006/relationships" id="263" r:id="R67e5e31129b44e7a"/>
    <p:sldId xmlns:r="http://schemas.openxmlformats.org/officeDocument/2006/relationships" id="264" r:id="Rd2305e4d39d34e56"/>
    <p:sldId xmlns:r="http://schemas.openxmlformats.org/officeDocument/2006/relationships" id="265" r:id="Ra76df21f5ed84278"/>
    <p:sldId xmlns:r="http://schemas.openxmlformats.org/officeDocument/2006/relationships" id="266" r:id="Radf917b339bb4129"/>
    <p:sldId xmlns:r="http://schemas.openxmlformats.org/officeDocument/2006/relationships" id="267" r:id="Rf9da7a05daca4a3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10fbddd3d0e4f08" /><Relationship Type="http://schemas.openxmlformats.org/officeDocument/2006/relationships/slideMaster" Target="/ppt/slideMasters/slideMaster1.xml" Id="Rcc9b6ad9e1c04272" /><Relationship Type="http://schemas.openxmlformats.org/officeDocument/2006/relationships/notesMaster" Target="/ppt/notesMasters/notesMaster1.xml" Id="R3e078dcb061b4917" /><Relationship Type="http://schemas.openxmlformats.org/officeDocument/2006/relationships/presProps" Target="/ppt/presProps.xml" Id="R8b17193714fc4f96" /><Relationship Type="http://schemas.openxmlformats.org/officeDocument/2006/relationships/tableStyles" Target="/ppt/tableStyles.xml" Id="Rc00c2bf4b1a2498b" /><Relationship Type="http://schemas.openxmlformats.org/officeDocument/2006/relationships/slide" Target="/ppt/slides/slide1.xml" Id="Rf2b0a42cbde940dc" /><Relationship Type="http://schemas.openxmlformats.org/officeDocument/2006/relationships/slide" Target="/ppt/slides/slide2.xml" Id="R38adc28b6f404dd8" /><Relationship Type="http://schemas.openxmlformats.org/officeDocument/2006/relationships/slide" Target="/ppt/slides/slide3.xml" Id="Rf0a80573edce40d0" /><Relationship Type="http://schemas.openxmlformats.org/officeDocument/2006/relationships/slide" Target="/ppt/slides/slide4.xml" Id="R60e9e3aa97654eeb" /><Relationship Type="http://schemas.openxmlformats.org/officeDocument/2006/relationships/slide" Target="/ppt/slides/slide5.xml" Id="Rde6b2201f9604dfa" /><Relationship Type="http://schemas.openxmlformats.org/officeDocument/2006/relationships/slide" Target="/ppt/slides/slide6.xml" Id="R82e003a51ef34dae" /><Relationship Type="http://schemas.openxmlformats.org/officeDocument/2006/relationships/slide" Target="/ppt/slides/slide7.xml" Id="R6ed9c942f4434b69" /><Relationship Type="http://schemas.openxmlformats.org/officeDocument/2006/relationships/slide" Target="/ppt/slides/slide8.xml" Id="R67e5e31129b44e7a" /><Relationship Type="http://schemas.openxmlformats.org/officeDocument/2006/relationships/slide" Target="/ppt/slides/slide9.xml" Id="Rd2305e4d39d34e56" /><Relationship Type="http://schemas.openxmlformats.org/officeDocument/2006/relationships/slide" Target="/ppt/slides/slide10.xml" Id="Ra76df21f5ed84278" /><Relationship Type="http://schemas.openxmlformats.org/officeDocument/2006/relationships/slide" Target="/ppt/slides/slide11.xml" Id="Radf917b339bb4129" /><Relationship Type="http://schemas.openxmlformats.org/officeDocument/2006/relationships/slide" Target="/ppt/slides/slide12.xml" Id="Rf9da7a05daca4a3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d7a6882ea694ce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ea6ab173b004b97" /><Relationship Type="http://schemas.openxmlformats.org/officeDocument/2006/relationships/notesMaster" Target="/ppt/notesMasters/notesMaster1.xml" Id="Rcafc75cc0f71439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f6688a6ae384692" /><Relationship Type="http://schemas.openxmlformats.org/officeDocument/2006/relationships/notesMaster" Target="/ppt/notesMasters/notesMaster1.xml" Id="R78d575fcfd2d4f6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a5707e5f2cf48d9" /><Relationship Type="http://schemas.openxmlformats.org/officeDocument/2006/relationships/notesMaster" Target="/ppt/notesMasters/notesMaster1.xml" Id="Rfc23935993464c3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3948eac1ae2478c" /><Relationship Type="http://schemas.openxmlformats.org/officeDocument/2006/relationships/notesMaster" Target="/ppt/notesMasters/notesMaster1.xml" Id="R8ccbe70e7645431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d9ed4c0976443b5" /><Relationship Type="http://schemas.openxmlformats.org/officeDocument/2006/relationships/notesMaster" Target="/ppt/notesMasters/notesMaster1.xml" Id="R0ba8e22d042b497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2f125c39fee4631" /><Relationship Type="http://schemas.openxmlformats.org/officeDocument/2006/relationships/notesMaster" Target="/ppt/notesMasters/notesMaster1.xml" Id="R15affc6445394c8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b79e808ccaf4a7e" /><Relationship Type="http://schemas.openxmlformats.org/officeDocument/2006/relationships/notesMaster" Target="/ppt/notesMasters/notesMaster1.xml" Id="Rd6f9effb622a4d5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52e4b3a72b645b2" /><Relationship Type="http://schemas.openxmlformats.org/officeDocument/2006/relationships/notesMaster" Target="/ppt/notesMasters/notesMaster1.xml" Id="Rb0cc02ac149b40c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7c09e17ae974536" /><Relationship Type="http://schemas.openxmlformats.org/officeDocument/2006/relationships/notesMaster" Target="/ppt/notesMasters/notesMaster1.xml" Id="R8fc7971cedb0404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073cc04d294445f" /><Relationship Type="http://schemas.openxmlformats.org/officeDocument/2006/relationships/notesMaster" Target="/ppt/notesMasters/notesMaster1.xml" Id="R33a51627a2ba4ae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46a97084bdd4b16" /><Relationship Type="http://schemas.openxmlformats.org/officeDocument/2006/relationships/notesMaster" Target="/ppt/notesMasters/notesMaster1.xml" Id="Rca55deb3646c47e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5a77b7b0e8340bc" /><Relationship Type="http://schemas.openxmlformats.org/officeDocument/2006/relationships/notesMaster" Target="/ppt/notesMasters/notesMaster1.xml" Id="R94263f63d70b426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public/icon-512.png and public/cv-underground.jpg. The PitGuard image is an in-app demonstration asset, not a camera capture.</a:t>
            </a:r>
          </a:p>
          <a:p xmlns:a="http://schemas.openxmlformats.org/drawingml/2006/main">
            <a:r>
              <a:t>Prepared from repository files available in the workspace on 30 September 2026. No external market-size, customer, price, revenue, or investment figures were supplied. Any commercial framing is a hypothesis for validation.</a:t>
            </a:r>
          </a:p>
          <a:p xmlns:a="http://schemas.openxmlformats.org/drawingml/2006/main">
            <a:r>
              <a:t>Product scope and readiness: README.md, Android companion and GUI source.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framing: README.md. The operational problem statements are discovery hypotheses and should be validated with mine operators and worker representatives.</a:t>
            </a:r>
          </a:p>
          <a:p xmlns:a="http://schemas.openxmlformats.org/drawingml/2006/main">
            <a:r>
              <a:t>Prepared from repository files available in the workspace on 30 September 2026. No external market-size, customer, price, revenue, or investment figures were supplied. Any commercial framing is a hypothesis for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README.md, Documentation/SafetyTag_Assembled.png, GUI and Android companion source. The tag shown is prototype concept artwork; no deployed or certified hardware evidence was supplied.</a:t>
            </a:r>
          </a:p>
          <a:p xmlns:a="http://schemas.openxmlformats.org/drawingml/2006/main">
            <a:r>
              <a:t>Prepared from repository files available in the workspace on 30 September 2026. No external market-size, customer, price, revenue, or investment figures were supplied. Any commercial framing is a hypothesis for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Android QR lookup implementation and OreChain ledger documentation. Digital integrity checks do not prove the physical contents of a parcel.</a:t>
            </a:r>
          </a:p>
          <a:p xmlns:a="http://schemas.openxmlformats.org/drawingml/2006/main">
            <a:r>
              <a:t>Prepared from repository files available in the workspace on 30 September 2026. No external market-size, customer, price, revenue, or investment figures were supplied. Any commercial framing is a hypothesis for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repository README, GUI, Android companion, Edge Hub and Documentation. No certified sensor, underground coverage, paid-customer, or audited financial evidence was supplied.</a:t>
            </a:r>
          </a:p>
          <a:p xmlns:a="http://schemas.openxmlformats.org/drawingml/2006/main">
            <a:r>
              <a:t>Prepared from repository files available in the workspace on 30 September 2026. No external market-size, customer, price, revenue, or investment figures were supplied. Any commercial framing is a hypothesis for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Android companion, Edge Hub configuration and application documentation. Diagram shows the documented intended site arrangement; live hardware behavior remains unvalidated.</a:t>
            </a:r>
          </a:p>
          <a:p xmlns:a="http://schemas.openxmlformats.org/drawingml/2006/main">
            <a:r>
              <a:t>Prepared from repository files available in the workspace on 30 September 2026. No external market-size, customer, price, revenue, or investment figures were supplied. Any commercial framing is a hypothesis for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Potential segments come from product use cases in README.md and application windows. They are discovery hypotheses; no customer interviews or signed pilots were provided.</a:t>
            </a:r>
          </a:p>
          <a:p xmlns:a="http://schemas.openxmlformats.org/drawingml/2006/main">
            <a:r>
              <a:t>Prepared from repository files available in the workspace on 30 September 2026. No external market-size, customer, price, revenue, or investment figures were supplied. Any commercial framing is a hypothesis for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Candidate models are hypotheses derived from product scope. No prices, costs, revenue or customer commitments were present in the supplied project evidence.</a:t>
            </a:r>
          </a:p>
          <a:p xmlns:a="http://schemas.openxmlformats.org/drawingml/2006/main">
            <a:r>
              <a:t>Prepared from repository files available in the workspace on 30 September 2026. No external market-size, customer, price, revenue, or investment figures were supplied. Any commercial framing is a hypothesis for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Recommended validation sequence based on the project’s prototype status and open deployment dependencies. These are proposed gates, not completed milestones.</a:t>
            </a:r>
          </a:p>
          <a:p xmlns:a="http://schemas.openxmlformats.org/drawingml/2006/main">
            <a:r>
              <a:t>Prepared from repository files available in the workspace on 30 September 2026. No external market-size, customer, price, revenue, or investment figures were supplied. Any commercial framing is a hypothesis for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Recommended investment gates. Project evidence contains no funding ask, unit economics, runway, valuation or forecast.</a:t>
            </a:r>
          </a:p>
          <a:p xmlns:a="http://schemas.openxmlformats.org/drawingml/2006/main">
            <a:r>
              <a:t>Prepared from repository files available in the workspace on 30 September 2026. No external market-size, customer, price, revenue, or investment figures were supplied. Any commercial framing is a hypothesis for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Readiness caveats drawn from repository documentation and current code. This slide is a diligence checklist, not a legal or mine-safety opinion.</a:t>
            </a:r>
          </a:p>
          <a:p xmlns:a="http://schemas.openxmlformats.org/drawingml/2006/main">
            <a:r>
              <a:t>Prepared from repository files available in the workspace on 30 September 2026. No external market-size, customer, price, revenue, or investment figures were supplied. Any commercial framing is a hypothesis for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Requested next step is a proposed discovery and pilot discussion. No partner commitment or funding approval is implied.</a:t>
            </a:r>
          </a:p>
          <a:p xmlns:a="http://schemas.openxmlformats.org/drawingml/2006/main">
            <a:r>
              <a:t>Prepared from repository files available in the workspace on 30 September 2026. No external market-size, customer, price, revenue, or investment figures were supplied. Any commercial framing is a hypothesis for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53eb129657463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f667232801f4b78" /><Relationship Type="http://schemas.openxmlformats.org/officeDocument/2006/relationships/slideLayout" Target="/ppt/slideLayouts/slideLayout1.xml" Id="Rb570ad7a7e0c41a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570ad7a7e0c41a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db8ffacde7465a" /><Relationship Type="http://schemas.openxmlformats.org/officeDocument/2006/relationships/image" Target="/ppt/media/image.png" Id="Rbeb127d9444f4e89" /><Relationship Type="http://schemas.openxmlformats.org/officeDocument/2006/relationships/image" Target="/ppt/media/image.jpeg" Id="R7d0add45a4e148f9" /><Relationship Type="http://schemas.openxmlformats.org/officeDocument/2006/relationships/notesSlide" Target="/ppt/notesSlides/notesSlide1.xml" Id="R04b1abdd277d402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8509eafae44476" /><Relationship Type="http://schemas.openxmlformats.org/officeDocument/2006/relationships/notesSlide" Target="/ppt/notesSlides/notesSlide2.xml" Id="R640fc3a537d7402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04130b4e034e89" /><Relationship Type="http://schemas.openxmlformats.org/officeDocument/2006/relationships/image" Target="/ppt/media/image2.png" Id="Rbf0a1052ad034501" /><Relationship Type="http://schemas.openxmlformats.org/officeDocument/2006/relationships/notesSlide" Target="/ppt/notesSlides/notesSlide3.xml" Id="R26cfbd6213ef498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6a9fd56c4348f2" /><Relationship Type="http://schemas.openxmlformats.org/officeDocument/2006/relationships/notesSlide" Target="/ppt/notesSlides/notesSlide4.xml" Id="Rc6a4ff3d494246f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b9f3ff5a0e4b35" /><Relationship Type="http://schemas.openxmlformats.org/officeDocument/2006/relationships/notesSlide" Target="/ppt/notesSlides/notesSlide5.xml" Id="R78fb65afcf7245a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748a2bbe704c46" /><Relationship Type="http://schemas.openxmlformats.org/officeDocument/2006/relationships/notesSlide" Target="/ppt/notesSlides/notesSlide6.xml" Id="R867a1452d3a243c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55694cd9c04cfb" /><Relationship Type="http://schemas.openxmlformats.org/officeDocument/2006/relationships/notesSlide" Target="/ppt/notesSlides/notesSlide7.xml" Id="Rf250a9671f4d42e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5e77bae5184fae" /><Relationship Type="http://schemas.openxmlformats.org/officeDocument/2006/relationships/notesSlide" Target="/ppt/notesSlides/notesSlide8.xml" Id="R1e6d81eee95e495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a8203bf42f4c20" /><Relationship Type="http://schemas.openxmlformats.org/officeDocument/2006/relationships/notesSlide" Target="/ppt/notesSlides/notesSlide9.xml" Id="R33a961cb5d46422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3e0bd9f68b4e7c" /><Relationship Type="http://schemas.openxmlformats.org/officeDocument/2006/relationships/notesSlide" Target="/ppt/notesSlides/notesSlide10.xml" Id="R5bcd33606a52430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47105d4fc64cd7" /><Relationship Type="http://schemas.openxmlformats.org/officeDocument/2006/relationships/notesSlide" Target="/ppt/notesSlides/notesSlide11.xml" Id="R469b729222ae4f2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482fad869c474a" /><Relationship Type="http://schemas.openxmlformats.org/officeDocument/2006/relationships/notesSlide" Target="/ppt/notesSlides/notesSlide12.xml" Id="R30e24292607c4d3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1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A0E3D2-A461-464D-BA57-F4BF550AB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58"/>
          </a:solidFill>
          <a:ln xmlns:a="http://schemas.openxmlformats.org/drawingml/2006/main" w="0">
            <a:noFill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b127d9444f4e89"/>
          <a:stretch xmlns:a="http://schemas.openxmlformats.org/drawingml/2006/main"/>
        </p:blipFill>
        <p:spPr>
          <a:xfrm xmlns:a="http://schemas.openxmlformats.org/drawingml/2006/main">
            <a:off x="685800" y="762000"/>
            <a:ext cx="876300" cy="8763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B59B42-0C8B-4094-929B-7A5454078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D2E65A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D2E65A"/>
                </a:solidFill>
                <a:latin typeface="Arial"/>
                <a:ea typeface="Arial"/>
                <a:cs typeface="Arial"/>
              </a:rPr>
              <a:t>NDARAMA GRID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5A71B5-BF80-418A-BA7C-280871CE4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6381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Commercial case</a:t>
            </a:r>
          </a:p>
          <a:p xmlns:a="http://schemas.openxmlformats.org/drawingml/2006/main">
            <a:pPr algn="l">
              <a:defRPr sz="4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and pilot path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370A42-405D-4A3B-A2D0-9C6D66A24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00550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C8D8D0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C8D8D0"/>
                </a:solidFill>
                <a:latin typeface="Arial"/>
                <a:ea typeface="Arial"/>
                <a:cs typeface="Arial"/>
              </a:rPr>
              <a:t>Business, investment and partnership opportunity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0add45a4e148f9"/>
          <a:srcRect xmlns:a="http://schemas.openxmlformats.org/drawingml/2006/main" l="3077" t="0" r="307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0" y="1666875"/>
            <a:ext cx="3905250" cy="2762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84FA1C-7C75-47E0-8019-0D299AA74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5529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1">
                <a:solidFill>
                  <a:srgbClr val="A9BEB3"/>
                </a:solidFill>
                <a:latin typeface="Arial"/>
                <a:ea typeface="Arial"/>
                <a:cs typeface="Arial"/>
              </a:defRPr>
            </a:pPr>
            <a:r>
              <a:rPr sz="1125" b="0" i="1">
                <a:solidFill>
                  <a:srgbClr val="A9BEB3"/>
                </a:solidFill>
                <a:latin typeface="Arial"/>
                <a:ea typeface="Arial"/>
                <a:cs typeface="Arial"/>
              </a:rPr>
              <a:t>Current application imagery. Demonstration asset, not a live site feed.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B432B5-E6A7-483C-9AFF-C76CDB8C3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609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MineTech Innovation Challenge Zimbabwe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23495F-7FE7-4067-94E6-CB34EDBF9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A9BEB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9BEB3"/>
                </a:solidFill>
                <a:latin typeface="Arial"/>
                <a:ea typeface="Arial"/>
                <a:cs typeface="Arial"/>
              </a:rPr>
              <a:t>30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5639648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C37CC3-8071-4A25-B12C-195777FA3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10211D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10211D"/>
                </a:solidFill>
                <a:latin typeface="Arial"/>
                <a:ea typeface="Arial"/>
                <a:cs typeface="Arial"/>
              </a:rPr>
              <a:t>The operating problem to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F89EFA-B958-4C8C-A2E7-910764CF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334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0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0B9945-D825-4F40-90EA-D66D6DABB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1615B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1615B"/>
                </a:solidFill>
                <a:latin typeface="Arial"/>
                <a:ea typeface="Arial"/>
                <a:cs typeface="Arial"/>
              </a:rPr>
              <a:t>The commercial case begins with a site workflow that is costly, frequent and poorly served by current tools.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8544C0-1A3A-4C11-A054-F59403676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75837C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75837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2801F2-1B34-43EA-BE92-CEC40B87F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33625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68A58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68A58"/>
                </a:solidFill>
                <a:latin typeface="Arial"/>
                <a:ea typeface="Arial"/>
                <a:cs typeface="Arial"/>
              </a:rPr>
              <a:t>Disconnected records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4E31E0-48B0-4D9F-9926-B79396F51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95600"/>
            <a:ext cx="3143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0211D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211D"/>
                </a:solidFill>
                <a:latin typeface="Arial"/>
                <a:ea typeface="Arial"/>
                <a:cs typeface="Arial"/>
              </a:rPr>
              <a:t>Safety checks, parcel custody and shift information can sit in separate records and handoffs.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69FF24-391B-4383-B13A-0C38C9742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295525"/>
            <a:ext cx="190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BCCACA-9CFB-48C4-99F8-FD40090E9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333625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68A58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68A58"/>
                </a:solidFill>
                <a:latin typeface="Arial"/>
                <a:ea typeface="Arial"/>
                <a:cs typeface="Arial"/>
              </a:rPr>
              <a:t>Weak connectivity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D44BDF-EA54-4FBD-87AE-3B384D9B1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95600"/>
            <a:ext cx="3143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0211D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211D"/>
                </a:solidFill>
                <a:latin typeface="Arial"/>
                <a:ea typeface="Arial"/>
                <a:cs typeface="Arial"/>
              </a:rPr>
              <a:t>Underground and remote work can make cloud-only workflows difficult to use consistently.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A47E40-C6E8-4C25-B838-0A6976C19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295525"/>
            <a:ext cx="190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4D54EC-2312-4414-97E5-C8FA353C7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33625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68A58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68A58"/>
                </a:solidFill>
                <a:latin typeface="Arial"/>
                <a:ea typeface="Arial"/>
                <a:cs typeface="Arial"/>
              </a:rPr>
              <a:t>Unclear accountability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43FEBB-CBCC-4E92-80B4-94CF47405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95600"/>
            <a:ext cx="3143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0211D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211D"/>
                </a:solidFill>
                <a:latin typeface="Arial"/>
                <a:ea typeface="Arial"/>
                <a:cs typeface="Arial"/>
              </a:rPr>
              <a:t>Operators need to know which record is current, who owns the next action and what evidence supports it.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F477EA-950C-4833-A564-7FFB0C29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91100"/>
            <a:ext cx="108013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1E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BE80EA-A3A6-4695-AC3F-DD1396F83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43500"/>
            <a:ext cx="2095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68A5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68A58"/>
                </a:solidFill>
                <a:latin typeface="Arial"/>
                <a:ea typeface="Arial"/>
                <a:cs typeface="Arial"/>
              </a:rPr>
              <a:t>Discovery question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6938E9-5E8B-45B1-9632-6E76C00ED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48300"/>
            <a:ext cx="1000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211D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0211D"/>
                </a:solidFill>
                <a:latin typeface="Arial"/>
                <a:ea typeface="Arial"/>
                <a:cs typeface="Arial"/>
              </a:rPr>
              <a:t>Which single handoff creates enough time, risk or rework for a site to pay for a better local workflow?</a:t>
            </a:r>
          </a:p>
        </p:txBody>
      </p:sp>
    </p:spTree>
    <p:extLst>
      <p:ext uri="{BB962C8B-B14F-4D97-AF65-F5344CB8AC3E}">
        <p14:creationId xmlns:p14="http://schemas.microsoft.com/office/powerpoint/2010/main" val="1884670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73DFE9-F5E1-48FD-8121-F6884BC0A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10211D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10211D"/>
                </a:solidFill>
                <a:latin typeface="Arial"/>
                <a:ea typeface="Arial"/>
                <a:cs typeface="Arial"/>
              </a:rPr>
              <a:t>One local operations workspace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6D09E1-27C7-4738-916F-2210D12E7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334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0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F70D56-19B4-421C-8B3B-FB8784E04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1615B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1615B"/>
                </a:solidFill>
                <a:latin typeface="Arial"/>
                <a:ea typeface="Arial"/>
                <a:cs typeface="Arial"/>
              </a:rPr>
              <a:t>Ndarama Grid combines an on-site Edge Hub, a 12-window desktop interface and an Android companion.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981F4D-930D-44F8-8BDB-18BE910CA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75837C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75837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0a1052ad034501"/>
          <a:stretch xmlns:a="http://schemas.openxmlformats.org/drawingml/2006/main"/>
        </p:blipFill>
        <p:spPr>
          <a:xfrm xmlns:a="http://schemas.openxmlformats.org/drawingml/2006/main">
            <a:off x="618259" y="2257425"/>
            <a:ext cx="4364182" cy="30003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0C3B84-7DDD-4BDF-873D-EFE492262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190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68A58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68A58"/>
                </a:solidFill>
                <a:latin typeface="Arial"/>
                <a:ea typeface="Arial"/>
                <a:cs typeface="Arial"/>
              </a:rPr>
              <a:t>THE PROPOSITION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450E8A-CD2C-497A-85DD-3EDEEAC45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628900"/>
            <a:ext cx="552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211D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0211D"/>
                </a:solidFill>
                <a:latin typeface="Arial"/>
                <a:ea typeface="Arial"/>
                <a:cs typeface="Arial"/>
              </a:rPr>
              <a:t>Keep essential records available on site. Sync when the network is available.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975B5A-84E4-4C13-814F-9A6A066D2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886200"/>
            <a:ext cx="5524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1615B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1615B"/>
                </a:solidFill>
                <a:latin typeface="Arial"/>
                <a:ea typeface="Arial"/>
                <a:cs typeface="Arial"/>
              </a:rPr>
              <a:t>PitGuard supports safety review. OreChain records parcels and custody events. Mesh queues messages. Copilot and operations screens support planning and site work.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3172DB-D802-4D79-803B-4CA3CD08E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4830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 i="1">
                <a:solidFill>
                  <a:srgbClr val="51615B"/>
                </a:solidFill>
                <a:latin typeface="Arial"/>
                <a:ea typeface="Arial"/>
                <a:cs typeface="Arial"/>
              </a:defRPr>
            </a:pPr>
            <a:r>
              <a:rPr sz="1125" b="0" i="1">
                <a:solidFill>
                  <a:srgbClr val="51615B"/>
                </a:solidFill>
                <a:latin typeface="Arial"/>
                <a:ea typeface="Arial"/>
                <a:cs typeface="Arial"/>
              </a:rPr>
              <a:t>SafetyTag image shows a prototype concept, not certified deployed hardware.</a:t>
            </a:r>
          </a:p>
        </p:txBody>
      </p:sp>
    </p:spTree>
    <p:extLst>
      <p:ext uri="{BB962C8B-B14F-4D97-AF65-F5344CB8AC3E}">
        <p14:creationId xmlns:p14="http://schemas.microsoft.com/office/powerpoint/2010/main" val="21386850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21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D60991-1BF4-42A1-8132-A77363C29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Parcel verification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841F37-B3EA-48C3-97B8-D5B0AED42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334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594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5064D9-6837-46AA-8F67-C5F852EE0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C6D7CF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C6D7CF"/>
                </a:solidFill>
                <a:latin typeface="Arial"/>
                <a:ea typeface="Arial"/>
                <a:cs typeface="Arial"/>
              </a:rPr>
              <a:t>Android camera reads a parcel QR value and checks the matching digital record through the PC Edge Hub.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1A67D6-FF93-4E79-8755-64509F482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A8BDB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8BDB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5F47DF-22E7-42AB-8EC1-A6E0C25C9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47900"/>
            <a:ext cx="60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D2E65A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D2E65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A59DEE-BEC0-42DE-B33B-C0847680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2479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Scan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8EFA64-A6FC-4AEE-A175-10B0B1BDA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247900"/>
            <a:ext cx="657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D5E1DB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D5E1DB"/>
                </a:solidFill>
                <a:latin typeface="Arial"/>
                <a:ea typeface="Arial"/>
                <a:cs typeface="Arial"/>
              </a:rPr>
              <a:t>Android reads the printed QR value.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7F1A2E-6D51-400B-A00C-B67BE620E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05125"/>
            <a:ext cx="8915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349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4148D7-3182-45B4-B705-98A512A3E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60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D2E65A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D2E65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E12A16-05B0-4386-9969-B914BAD67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1623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Look up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8F64C7-C4E6-41AC-A5E5-920A75241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162300"/>
            <a:ext cx="657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D5E1DB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D5E1DB"/>
                </a:solidFill>
                <a:latin typeface="Arial"/>
                <a:ea typeface="Arial"/>
                <a:cs typeface="Arial"/>
              </a:rPr>
              <a:t>The PC Hub searches its local parcel ledger.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74E06A-A9E4-4C56-9D71-8506EB4A7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19525"/>
            <a:ext cx="8915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34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54BDEA-F31C-4F32-BD0F-83103F7FD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76700"/>
            <a:ext cx="60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D2E65A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D2E65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6D3750-F6E2-4360-BF27-90CBFDDFD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0767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64203A-0B36-4711-8428-0796D1253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076700"/>
            <a:ext cx="657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D5E1DB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D5E1DB"/>
                </a:solidFill>
                <a:latin typeface="Arial"/>
                <a:ea typeface="Arial"/>
                <a:cs typeface="Arial"/>
              </a:rPr>
              <a:t>The Hub reports record and chain integrity.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04DDCA-941B-4A9B-B04F-5FED06C50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33925"/>
            <a:ext cx="8915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349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87155D-907E-45A9-88A4-5126E0554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91100"/>
            <a:ext cx="60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D2E65A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D2E65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0E178B-854C-4BD0-A095-90DC40F17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911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Inspect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DD3DD9-17A8-47A9-A04E-9952FF207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991100"/>
            <a:ext cx="657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D5E1DB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D5E1DB"/>
                </a:solidFill>
                <a:latin typeface="Arial"/>
                <a:ea typeface="Arial"/>
                <a:cs typeface="Arial"/>
              </a:rPr>
              <a:t>Receiver follows physical inspection and transaction procedures.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63DFB5-DCAC-4E1D-A14C-160C10A0A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648325"/>
            <a:ext cx="8915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349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908589-28A1-4E85-81A3-8DDCEA39B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72175"/>
            <a:ext cx="1009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D2E65A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D2E65A"/>
                </a:solidFill>
                <a:latin typeface="Arial"/>
                <a:ea typeface="Arial"/>
                <a:cs typeface="Arial"/>
              </a:rPr>
              <a:t>A valid digital check matches the stored record. It does not authenticate the physical contents, legal title or counterparty identity.</a:t>
            </a:r>
          </a:p>
        </p:txBody>
      </p:sp>
    </p:spTree>
    <p:extLst>
      <p:ext uri="{BB962C8B-B14F-4D97-AF65-F5344CB8AC3E}">
        <p14:creationId xmlns:p14="http://schemas.microsoft.com/office/powerpoint/2010/main" val="12977772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CB29DD-AE86-45D5-AD0E-7E7FD2DC6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10211D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10211D"/>
                </a:solidFill>
                <a:latin typeface="Arial"/>
                <a:ea typeface="Arial"/>
                <a:cs typeface="Arial"/>
              </a:rPr>
              <a:t>What the current product demonstrates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D5E6DB-3255-4BE9-823E-DAF8B7328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334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0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08D459-6172-45DD-88BE-211DBBAA2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1615B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1615B"/>
                </a:solidFill>
                <a:latin typeface="Arial"/>
                <a:ea typeface="Arial"/>
                <a:cs typeface="Arial"/>
              </a:rPr>
              <a:t>The software prototype provides a base for a controlled site pilot. Hardware and field performance remain open.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177964-0578-4BDC-824C-B534C8474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75837C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75837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4C47D7-FA1E-4F55-9215-2A5757261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68A58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68A58"/>
                </a:solidFill>
                <a:latin typeface="Arial"/>
                <a:ea typeface="Arial"/>
                <a:cs typeface="Arial"/>
              </a:rPr>
              <a:t>Desktop and local Hub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92208D-0F92-4E29-8B01-1F34A15C7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4762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0211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0211D"/>
                </a:solidFill>
                <a:latin typeface="Arial"/>
                <a:ea typeface="Arial"/>
                <a:cs typeface="Arial"/>
              </a:rPr>
              <a:t>Local application, Edge Hub service, SQLite site records and a 12-window operations interface.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202CBD-6433-4818-B79B-0F63793C0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68A58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68A58"/>
                </a:solidFill>
                <a:latin typeface="Arial"/>
                <a:ea typeface="Arial"/>
                <a:cs typeface="Arial"/>
              </a:rPr>
              <a:t>Android companion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E0625C-58A7-4CFD-A88F-F8A247148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4762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0211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0211D"/>
                </a:solidFill>
                <a:latin typeface="Arial"/>
                <a:ea typeface="Arial"/>
                <a:cs typeface="Arial"/>
              </a:rPr>
              <a:t>Connects to a PC Hub on the local network and submits a scanned parcel value for lookup.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3400D5-3319-45EB-B503-77080C22C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4822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68A58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68A58"/>
                </a:solidFill>
                <a:latin typeface="Arial"/>
                <a:ea typeface="Arial"/>
                <a:cs typeface="Arial"/>
              </a:rPr>
              <a:t>Integrity workflow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CF5CA2-0C01-4EF7-A20A-D17946EC6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29225"/>
            <a:ext cx="4762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0211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0211D"/>
                </a:solidFill>
                <a:latin typeface="Arial"/>
                <a:ea typeface="Arial"/>
                <a:cs typeface="Arial"/>
              </a:rPr>
              <a:t>Stored records expose hash and signature checks for digital record verification.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9C2FAB-DA2E-429B-BBEE-2E64A12D0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171700"/>
            <a:ext cx="5334000" cy="344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1D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D1511B-2E70-48A2-8769-839B96DF7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146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D2E65A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D2E65A"/>
                </a:solidFill>
                <a:latin typeface="Arial"/>
                <a:ea typeface="Arial"/>
                <a:cs typeface="Arial"/>
              </a:rPr>
              <a:t>READINESS BOUNDARY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5F4255-2A0A-4906-83E3-6028B0C7F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19425"/>
            <a:ext cx="4572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Prototype software</a:t>
            </a:r>
          </a:p>
          <a:p xmlns:a="http://schemas.openxmlformats.org/drawingml/2006/main">
            <a:pPr algn="l">
              <a:defRPr sz="20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Concept hardware</a:t>
            </a:r>
          </a:p>
          <a:p xmlns:a="http://schemas.openxmlformats.org/drawingml/2006/main">
            <a:pPr algn="l">
              <a:defRPr sz="20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No validated field deployment evidence supplied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6716B5-D624-4388-B2D6-0F9214D3F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00600"/>
            <a:ext cx="45148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C6D8CE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C6D8CE"/>
                </a:solidFill>
                <a:latin typeface="Arial"/>
                <a:ea typeface="Arial"/>
                <a:cs typeface="Arial"/>
              </a:rPr>
              <a:t>Use safety outputs as decision support until devices, alert paths and site procedures pass qualified validation.</a:t>
            </a:r>
          </a:p>
        </p:txBody>
      </p:sp>
    </p:spTree>
    <p:extLst>
      <p:ext uri="{BB962C8B-B14F-4D97-AF65-F5344CB8AC3E}">
        <p14:creationId xmlns:p14="http://schemas.microsoft.com/office/powerpoint/2010/main" val="20036745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CEC692-2204-49BD-859C-E479B1DA3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10211D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10211D"/>
                </a:solidFill>
                <a:latin typeface="Arial"/>
                <a:ea typeface="Arial"/>
                <a:cs typeface="Arial"/>
              </a:rPr>
              <a:t>Deployment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2D7D88-3FF3-45D8-A49E-FD354FF74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334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0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A6BDF9-BB7D-4FE4-ADAD-075512F93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1615B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1615B"/>
                </a:solidFill>
                <a:latin typeface="Arial"/>
                <a:ea typeface="Arial"/>
                <a:cs typeface="Arial"/>
              </a:rPr>
              <a:t>A site computer hosts records and services. Phones connect over the trusted local network.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94D806-F5E2-42A3-A606-EB922A6ED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75837C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75837C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E786F2-FBEC-41AD-B892-50A74D539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2714625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EF"/>
          </a:solidFill>
          <a:ln xmlns:a="http://schemas.openxmlformats.org/drawingml/2006/main" w="19050">
            <a:solidFill>
              <a:srgbClr val="CBD8D0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B5E66B-E643-4C96-BB0B-85593D3E3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76550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68A58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68A58"/>
                </a:solidFill>
                <a:latin typeface="Arial"/>
                <a:ea typeface="Arial"/>
                <a:cs typeface="Arial"/>
              </a:rPr>
              <a:t>ANDROID APP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5A93EF-1556-4C7B-9829-EE38F0897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05175"/>
            <a:ext cx="233362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0211D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211D"/>
                </a:solidFill>
                <a:latin typeface="Arial"/>
                <a:ea typeface="Arial"/>
                <a:cs typeface="Arial"/>
              </a:rPr>
              <a:t>Camera scan</a:t>
            </a:r>
          </a:p>
          <a:p xmlns:a="http://schemas.openxmlformats.org/drawingml/2006/main">
            <a:pPr algn="l">
              <a:defRPr sz="1575" b="0" i="0">
                <a:solidFill>
                  <a:srgbClr val="10211D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211D"/>
                </a:solidFill>
                <a:latin typeface="Arial"/>
                <a:ea typeface="Arial"/>
                <a:cs typeface="Arial"/>
              </a:rPr>
              <a:t>Local network client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13325F-7F68-47E8-8242-7478B40C1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095500"/>
            <a:ext cx="335280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1D"/>
          </a:solidFill>
          <a:ln xmlns:a="http://schemas.openxmlformats.org/drawingml/2006/main" w="19050">
            <a:solidFill>
              <a:srgbClr val="10211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104589-2C89-47A6-8D21-59B9ED5A5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286000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D2E65A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D2E65A"/>
                </a:solidFill>
                <a:latin typeface="Arial"/>
                <a:ea typeface="Arial"/>
                <a:cs typeface="Arial"/>
              </a:rPr>
              <a:t>PC EDGE HUB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8D180D-26DD-4612-A98A-E53557859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714625"/>
            <a:ext cx="2971800" cy="2162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Desktop GUI</a:t>
            </a:r>
          </a:p>
          <a:p xmlns:a="http://schemas.openxmlformats.org/drawingml/2006/main">
            <a:pPr algn="l">
              <a:defRPr sz="15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Local API service</a:t>
            </a:r>
          </a:p>
          <a:p xmlns:a="http://schemas.openxmlformats.org/drawingml/2006/main">
            <a:pPr algn="l">
              <a:defRPr sz="15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SQLite site records</a:t>
            </a:r>
          </a:p>
          <a:p xmlns:a="http://schemas.openxmlformats.org/drawingml/2006/main">
            <a:pPr algn="l">
              <a:defRPr sz="15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QR lookup and integrity check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282F88-F439-4B1F-B50E-7C584D73D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686050"/>
            <a:ext cx="23622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EF"/>
          </a:solidFill>
          <a:ln xmlns:a="http://schemas.openxmlformats.org/drawingml/2006/main" w="19050">
            <a:solidFill>
              <a:srgbClr val="CBD8D0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137EDF-EAF5-42E5-8946-BF5DE9E5A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87655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68A58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68A58"/>
                </a:solidFill>
                <a:latin typeface="Arial"/>
                <a:ea typeface="Arial"/>
                <a:cs typeface="Arial"/>
              </a:rPr>
              <a:t>SITE DEVICES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5D8BAC-838E-45F8-AB76-5F6842284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305175"/>
            <a:ext cx="19812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0211D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211D"/>
                </a:solidFill>
                <a:latin typeface="Arial"/>
                <a:ea typeface="Arial"/>
                <a:cs typeface="Arial"/>
              </a:rPr>
              <a:t>Configured sensors</a:t>
            </a:r>
          </a:p>
          <a:p xmlns:a="http://schemas.openxmlformats.org/drawingml/2006/main">
            <a:pPr algn="l">
              <a:defRPr sz="1575" b="0" i="0">
                <a:solidFill>
                  <a:srgbClr val="10211D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211D"/>
                </a:solidFill>
                <a:latin typeface="Arial"/>
                <a:ea typeface="Arial"/>
                <a:cs typeface="Arial"/>
              </a:rPr>
              <a:t>Radio and alert paths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0F06FE-C07D-46EC-9448-7D80AF1F8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429000"/>
            <a:ext cx="12096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5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412B9D-1A0F-41C5-8291-689614213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29000"/>
            <a:ext cx="1181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5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1EC31A-2CCF-40F3-A56F-FD7058BB2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067050"/>
            <a:ext cx="1209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51615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1615B"/>
                </a:solidFill>
                <a:latin typeface="Arial"/>
                <a:ea typeface="Arial"/>
                <a:cs typeface="Arial"/>
              </a:rPr>
              <a:t>Local Wi-Fi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446080-1350-420E-8A47-86E3F7E2A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67050"/>
            <a:ext cx="1181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51615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1615B"/>
                </a:solidFill>
                <a:latin typeface="Arial"/>
                <a:ea typeface="Arial"/>
                <a:cs typeface="Arial"/>
              </a:rPr>
              <a:t>Site link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DF51EA-5B35-42CF-9FEC-CB064A383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435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1615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1615B"/>
                </a:solidFill>
                <a:latin typeface="Arial"/>
                <a:ea typeface="Arial"/>
                <a:cs typeface="Arial"/>
              </a:rPr>
              <a:t>The repository describes software paths for local access. Radio coverage, sensor calibration and safety response require field validation.</a:t>
            </a:r>
          </a:p>
        </p:txBody>
      </p:sp>
    </p:spTree>
    <p:extLst>
      <p:ext uri="{BB962C8B-B14F-4D97-AF65-F5344CB8AC3E}">
        <p14:creationId xmlns:p14="http://schemas.microsoft.com/office/powerpoint/2010/main" val="9521766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B092A1-5AB7-419B-959A-6C83513DA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10211D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10211D"/>
                </a:solidFill>
                <a:latin typeface="Arial"/>
                <a:ea typeface="Arial"/>
                <a:cs typeface="Arial"/>
              </a:rPr>
              <a:t>Buyer and partner hypotheses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154142-8962-4D3D-93DB-6702AB3AA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334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0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83AE88-426B-42C1-9A75-A8D0F230B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1615B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1615B"/>
                </a:solidFill>
                <a:latin typeface="Arial"/>
                <a:ea typeface="Arial"/>
                <a:cs typeface="Arial"/>
              </a:rPr>
              <a:t>Start with people who own the workflow, the budget and the operating risk.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AA15B5-FD8A-45DA-81A3-83560E2D6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75837C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75837C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C2D18C-C986-4CA6-825B-F4CFA2B51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955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68A58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68A5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C99186-A3BA-4BA3-AB27-352044CCF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3143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0211D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0211D"/>
                </a:solidFill>
                <a:latin typeface="Arial"/>
                <a:ea typeface="Arial"/>
                <a:cs typeface="Arial"/>
              </a:rPr>
              <a:t>Mine operator or cooperative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004D92-B249-4253-B262-DCA3E51F3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3143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1615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1615B"/>
                </a:solidFill>
                <a:latin typeface="Arial"/>
                <a:ea typeface="Arial"/>
                <a:cs typeface="Arial"/>
              </a:rPr>
              <a:t>May want simpler shift records, site coordination and safety workflow visibility.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D0A154-6947-4520-B501-936531E8B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107E1D-D581-42BE-85F3-F2C7B90BC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211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211D"/>
                </a:solidFill>
                <a:latin typeface="Arial"/>
                <a:ea typeface="Arial"/>
                <a:cs typeface="Arial"/>
              </a:rPr>
              <a:t>Ask: who approves software and who carries the duty of care?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69D407-732E-451F-8A21-01C3C47ED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955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68A58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68A5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D18E32-DC57-41A9-BFDA-AF1A1438A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819400"/>
            <a:ext cx="3143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0211D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0211D"/>
                </a:solidFill>
                <a:latin typeface="Arial"/>
                <a:ea typeface="Arial"/>
                <a:cs typeface="Arial"/>
              </a:rPr>
              <a:t>Mineral buying centre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A5D4FE-56F2-41EB-9653-EF187699B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19500"/>
            <a:ext cx="3143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1615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1615B"/>
                </a:solidFill>
                <a:latin typeface="Arial"/>
                <a:ea typeface="Arial"/>
                <a:cs typeface="Arial"/>
              </a:rPr>
              <a:t>May value parcel identity, custody history and checkable digital records.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931145-138B-4319-BCF4-85A0F6558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87680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0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86B41B-3A73-4248-BB99-77579AB42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095875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211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211D"/>
                </a:solidFill>
                <a:latin typeface="Arial"/>
                <a:ea typeface="Arial"/>
                <a:cs typeface="Arial"/>
              </a:rPr>
              <a:t>Ask: what evidence is accepted at handover and by whom?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7551A6-76A1-4867-AFE8-6881713F7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955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68A58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68A5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041909-9603-40F2-BD2E-F0DC152E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19400"/>
            <a:ext cx="3143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0211D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0211D"/>
                </a:solidFill>
                <a:latin typeface="Arial"/>
                <a:ea typeface="Arial"/>
                <a:cs typeface="Arial"/>
              </a:rPr>
              <a:t>Mine services partner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387E6E-BBBD-459B-802A-F7D2FB92B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19500"/>
            <a:ext cx="3143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1615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1615B"/>
                </a:solidFill>
                <a:latin typeface="Arial"/>
                <a:ea typeface="Arial"/>
                <a:cs typeface="Arial"/>
              </a:rPr>
              <a:t>May deploy, maintain and support site computers, devices or training.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23D00E-DDFA-4944-8635-8E037A866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87680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0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9EC593-DCE2-494B-B896-D44730ECD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095875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211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211D"/>
                </a:solidFill>
                <a:latin typeface="Arial"/>
                <a:ea typeface="Arial"/>
                <a:cs typeface="Arial"/>
              </a:rPr>
              <a:t>Ask: what equipment and response commitments can the partner sustain?</a:t>
            </a:r>
          </a:p>
        </p:txBody>
      </p:sp>
    </p:spTree>
    <p:extLst>
      <p:ext uri="{BB962C8B-B14F-4D97-AF65-F5344CB8AC3E}">
        <p14:creationId xmlns:p14="http://schemas.microsoft.com/office/powerpoint/2010/main" val="134381958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CBF014-4219-44F3-BAEC-98A5FBDBB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10211D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10211D"/>
                </a:solidFill>
                <a:latin typeface="Arial"/>
                <a:ea typeface="Arial"/>
                <a:cs typeface="Arial"/>
              </a:rPr>
              <a:t>Commercial models to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19616F-AFE8-4F62-9004-69E0EE8BF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334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0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406A75-83A6-4C2A-9A3C-F58E030B2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1615B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1615B"/>
                </a:solidFill>
                <a:latin typeface="Arial"/>
                <a:ea typeface="Arial"/>
                <a:cs typeface="Arial"/>
              </a:rPr>
              <a:t>Treat pricing, margins and renewal as questions until customer evidence exists.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922EFE-9E91-4270-956C-2C7AA3D48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75837C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75837C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C6FCD4-7BA8-4CF8-8DDD-28DD95013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76475"/>
            <a:ext cx="5905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68A5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68A5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953F09-2A10-4073-B542-6D3C225E0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238375"/>
            <a:ext cx="3524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0211D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0211D"/>
                </a:solidFill>
                <a:latin typeface="Arial"/>
                <a:ea typeface="Arial"/>
                <a:cs typeface="Arial"/>
              </a:rPr>
              <a:t>Site software licence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02EF58-87A4-4B80-B918-B0AB81427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76525"/>
            <a:ext cx="4381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1615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1615B"/>
                </a:solidFill>
                <a:latin typeface="Arial"/>
                <a:ea typeface="Arial"/>
                <a:cs typeface="Arial"/>
              </a:rPr>
              <a:t>Test willingness to pay for Hub access, updates and support.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741FBE-E183-49DF-BB0E-7E9101E99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62350"/>
            <a:ext cx="5905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68A5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68A5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3BEDF6-0AA7-41F3-A9C5-3A55347C9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24250"/>
            <a:ext cx="37147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0211D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0211D"/>
                </a:solidFill>
                <a:latin typeface="Arial"/>
                <a:ea typeface="Arial"/>
                <a:cs typeface="Arial"/>
              </a:rPr>
              <a:t>Deployment and training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7CF3ED-BADD-47B8-B4F2-01508475C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62400"/>
            <a:ext cx="4381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1615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1615B"/>
                </a:solidFill>
                <a:latin typeface="Arial"/>
                <a:ea typeface="Arial"/>
                <a:cs typeface="Arial"/>
              </a:rPr>
              <a:t>Measure installation effort, training time and repeatability across sites.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F63D47-4631-42F8-9154-59ABE3373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48225"/>
            <a:ext cx="5905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68A5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68A5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C1D37A-72FA-48BA-BC5D-482CDC611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10125"/>
            <a:ext cx="3619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0211D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0211D"/>
                </a:solidFill>
                <a:latin typeface="Arial"/>
                <a:ea typeface="Arial"/>
                <a:cs typeface="Arial"/>
              </a:rPr>
              <a:t>Hardware and support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5513FB-015E-42CC-8CDC-146D019F3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48275"/>
            <a:ext cx="4381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1615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1615B"/>
                </a:solidFill>
                <a:latin typeface="Arial"/>
                <a:ea typeface="Arial"/>
                <a:cs typeface="Arial"/>
              </a:rPr>
              <a:t>Price only after parts, certification, service and replacement costs are known.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EFE806-5A6C-46B4-AE13-79512B2FD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47900"/>
            <a:ext cx="49530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1E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8B5858-0404-4F62-B138-490F1D831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717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68A58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68A58"/>
                </a:solidFill>
                <a:latin typeface="Arial"/>
                <a:ea typeface="Arial"/>
                <a:cs typeface="Arial"/>
              </a:rPr>
              <a:t>Evidence before forecast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F85F9C-C318-419B-9DCB-6F2CAA375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43250"/>
            <a:ext cx="4095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211D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0211D"/>
                </a:solidFill>
                <a:latin typeface="Arial"/>
                <a:ea typeface="Arial"/>
                <a:cs typeface="Arial"/>
              </a:rPr>
              <a:t>Paying pilot</a:t>
            </a:r>
          </a:p>
          <a:p xmlns:a="http://schemas.openxmlformats.org/drawingml/2006/main">
            <a:pPr algn="l">
              <a:defRPr sz="1725" b="1" i="0">
                <a:solidFill>
                  <a:srgbClr val="10211D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0211D"/>
                </a:solidFill>
                <a:latin typeface="Arial"/>
                <a:ea typeface="Arial"/>
                <a:cs typeface="Arial"/>
              </a:rPr>
              <a:t>Written scope and buyer</a:t>
            </a:r>
          </a:p>
          <a:p xmlns:a="http://schemas.openxmlformats.org/drawingml/2006/main">
            <a:pPr algn="l">
              <a:defRPr sz="1725" b="1" i="0">
                <a:solidFill>
                  <a:srgbClr val="10211D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0211D"/>
                </a:solidFill>
                <a:latin typeface="Arial"/>
                <a:ea typeface="Arial"/>
                <a:cs typeface="Arial"/>
              </a:rPr>
              <a:t>Delivery cost per site</a:t>
            </a:r>
          </a:p>
          <a:p xmlns:a="http://schemas.openxmlformats.org/drawingml/2006/main">
            <a:pPr algn="l">
              <a:defRPr sz="1725" b="1" i="0">
                <a:solidFill>
                  <a:srgbClr val="10211D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0211D"/>
                </a:solidFill>
                <a:latin typeface="Arial"/>
                <a:ea typeface="Arial"/>
                <a:cs typeface="Arial"/>
              </a:rPr>
              <a:t>Renewal or expansion signal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2547E7-1F43-4DC7-9373-CC1FA22CD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2578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1">
                <a:solidFill>
                  <a:srgbClr val="51615B"/>
                </a:solidFill>
                <a:latin typeface="Arial"/>
                <a:ea typeface="Arial"/>
                <a:cs typeface="Arial"/>
              </a:defRPr>
            </a:pPr>
            <a:r>
              <a:rPr sz="1200" b="0" i="1">
                <a:solidFill>
                  <a:srgbClr val="51615B"/>
                </a:solidFill>
                <a:latin typeface="Arial"/>
                <a:ea typeface="Arial"/>
                <a:cs typeface="Arial"/>
              </a:rPr>
              <a:t>No pricing or revenue data supplied.</a:t>
            </a:r>
          </a:p>
        </p:txBody>
      </p:sp>
    </p:spTree>
    <p:extLst>
      <p:ext uri="{BB962C8B-B14F-4D97-AF65-F5344CB8AC3E}">
        <p14:creationId xmlns:p14="http://schemas.microsoft.com/office/powerpoint/2010/main" val="55833742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21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025E5E-1828-4640-9694-C29B26D57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staged route into the market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C8CE38-617D-456F-8859-21393925A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334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594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E50A4A-0BC9-489B-AA64-F93DCED8B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C6D7CF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C6D7CF"/>
                </a:solidFill>
                <a:latin typeface="Arial"/>
                <a:ea typeface="Arial"/>
                <a:cs typeface="Arial"/>
              </a:rPr>
              <a:t>Progress only when the evidence answers the next decision.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54DB99-452B-4866-822A-0045D2765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A8BDB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8BDB2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1D831F-5D2F-454C-A090-4EB9CF1E0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D2E65A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D2E65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281DA5-D152-42B7-99E3-82AE39FA5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Discover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799B46-5AD8-4766-A578-D0F991525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2190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D5E1D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D5E1DB"/>
                </a:solidFill>
                <a:latin typeface="Arial"/>
                <a:ea typeface="Arial"/>
                <a:cs typeface="Arial"/>
              </a:rPr>
              <a:t>Select one costly recurring handoff.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D11FAF-27D7-4D8E-8A3D-0F8911727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33925"/>
            <a:ext cx="2152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635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40FBBD-32F0-4334-825C-2F078D5D1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2190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D2E65A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D2E65A"/>
                </a:solidFill>
                <a:latin typeface="Arial"/>
                <a:ea typeface="Arial"/>
                <a:cs typeface="Arial"/>
              </a:rPr>
              <a:t>Pass: named owner and budget path.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222600-0D02-47EC-9753-77AFFDA50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6220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D2E65A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D2E65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02AE9B-7DBE-4898-AB68-0833D4395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57500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Pilot software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B61575-6736-44C9-A795-73956A215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448050"/>
            <a:ext cx="2190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D5E1D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D5E1DB"/>
                </a:solidFill>
                <a:latin typeface="Arial"/>
                <a:ea typeface="Arial"/>
                <a:cs typeface="Arial"/>
              </a:rPr>
              <a:t>Run one site workflow under supervision.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EF9B7F-9F1C-46A5-B3F1-569543F77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733925"/>
            <a:ext cx="2152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635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773EAE-EA2B-4D8A-A3DA-69107ECEB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962525"/>
            <a:ext cx="2190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D2E65A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D2E65A"/>
                </a:solidFill>
                <a:latin typeface="Arial"/>
                <a:ea typeface="Arial"/>
                <a:cs typeface="Arial"/>
              </a:rPr>
              <a:t>Pass: uptime, completeness and time saved measured.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93320B-5710-4056-B35F-6E8B5A4BB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6220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D2E65A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D2E65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91206C-20EC-4860-99C2-5E46E6275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57500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Test devices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3C87A5-03DC-43D0-B201-C20EF48B7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448050"/>
            <a:ext cx="2190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D5E1D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D5E1DB"/>
                </a:solidFill>
                <a:latin typeface="Arial"/>
                <a:ea typeface="Arial"/>
                <a:cs typeface="Arial"/>
              </a:rPr>
              <a:t>Test intended sensors, alerts and network conditions.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BBD42A-7F15-48B5-A91C-C0065DB7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733925"/>
            <a:ext cx="2152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6357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4A7DB4-9279-4DCA-A3DB-8910BB736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962525"/>
            <a:ext cx="2190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D2E65A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D2E65A"/>
                </a:solidFill>
                <a:latin typeface="Arial"/>
                <a:ea typeface="Arial"/>
                <a:cs typeface="Arial"/>
              </a:rPr>
              <a:t>Pass: qualified site and safety sign-off.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1601F3-7120-46BB-B9AB-838CDC471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36220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D2E65A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D2E65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2B4431-0B24-4595-B544-374162246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857500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Repeat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5C825C-1709-47DE-BC09-B7DEE8571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448050"/>
            <a:ext cx="2190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D5E1D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D5E1DB"/>
                </a:solidFill>
                <a:latin typeface="Arial"/>
                <a:ea typeface="Arial"/>
                <a:cs typeface="Arial"/>
              </a:rPr>
              <a:t>Deploy again with a documented support package.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C378C0-204B-4008-9936-E47F6FA7C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733925"/>
            <a:ext cx="2152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6357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79E024-6EF9-45FF-8EFC-5E9E8FDC5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962525"/>
            <a:ext cx="2190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D2E65A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D2E65A"/>
                </a:solidFill>
                <a:latin typeface="Arial"/>
                <a:ea typeface="Arial"/>
                <a:cs typeface="Arial"/>
              </a:rPr>
              <a:t>Pass: delivery effort and buyer renewal signal known.</a:t>
            </a:r>
          </a:p>
        </p:txBody>
      </p:sp>
    </p:spTree>
    <p:extLst>
      <p:ext uri="{BB962C8B-B14F-4D97-AF65-F5344CB8AC3E}">
        <p14:creationId xmlns:p14="http://schemas.microsoft.com/office/powerpoint/2010/main" val="43983330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68CBC3-890D-4106-AE4E-B00826381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10211D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10211D"/>
                </a:solidFill>
                <a:latin typeface="Arial"/>
                <a:ea typeface="Arial"/>
                <a:cs typeface="Arial"/>
              </a:rPr>
              <a:t>What early investment should establish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67E734-C927-4D32-BC33-1E9CE08D6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334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0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7F33EE-12AA-48C3-8D61-38104B335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1615B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1615B"/>
                </a:solidFill>
                <a:latin typeface="Arial"/>
                <a:ea typeface="Arial"/>
                <a:cs typeface="Arial"/>
              </a:rPr>
              <a:t>Fund evidence that changes a go, revise or stop decision.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6BEE4D-1C00-4301-BDBC-EFC6B0141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75837C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75837C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9D076C-CC9A-4895-980C-2978D5C1F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09800"/>
            <a:ext cx="523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68A58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68A5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7D644C-B6C2-494F-A9E8-842F92976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2098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0211D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211D"/>
                </a:solidFill>
                <a:latin typeface="Arial"/>
                <a:ea typeface="Arial"/>
                <a:cs typeface="Arial"/>
              </a:rPr>
              <a:t>Customer discovery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17A9A0-0B78-45F3-AD1B-8AA8C2DA4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209800"/>
            <a:ext cx="609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1615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1615B"/>
                </a:solidFill>
                <a:latin typeface="Arial"/>
                <a:ea typeface="Arial"/>
                <a:cs typeface="Arial"/>
              </a:rPr>
              <a:t>Paid problem, buyer, procurement route and one bounded pilot scope.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61A4B1-8246-4143-8EF9-0D6E4C033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895600"/>
            <a:ext cx="946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4D8B6D-28BE-4985-8E1C-39D4CF37C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62300"/>
            <a:ext cx="523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68A58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68A5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1A49E7-9531-496C-AADA-EE731B26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1623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0211D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211D"/>
                </a:solidFill>
                <a:latin typeface="Arial"/>
                <a:ea typeface="Arial"/>
                <a:cs typeface="Arial"/>
              </a:rPr>
              <a:t>Pilot operations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5ADD3E-592A-4AB6-9883-BDF8EE747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162300"/>
            <a:ext cx="609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1615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1615B"/>
                </a:solidFill>
                <a:latin typeface="Arial"/>
                <a:ea typeface="Arial"/>
                <a:cs typeface="Arial"/>
              </a:rPr>
              <a:t>Installation plan, operator training, support ownership and usage measures.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5DC013-8096-496B-96AD-1A0F154D0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848100"/>
            <a:ext cx="946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2BE237-B51F-43BE-92CC-996BC67D0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14800"/>
            <a:ext cx="523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68A58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68A5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DDDE8B-1B0C-47CB-B7FB-2A346DB7B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1148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0211D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211D"/>
                </a:solidFill>
                <a:latin typeface="Arial"/>
                <a:ea typeface="Arial"/>
                <a:cs typeface="Arial"/>
              </a:rPr>
              <a:t>Safety and engineering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68B16C-DC00-4BFF-B6C2-131A768ED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114800"/>
            <a:ext cx="609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1615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1615B"/>
                </a:solidFill>
                <a:latin typeface="Arial"/>
                <a:ea typeface="Arial"/>
                <a:cs typeface="Arial"/>
              </a:rPr>
              <a:t>Sensor calibration, alert testing, radio coverage and site procedures.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990F75-7770-4A1A-9E83-0D4663686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800600"/>
            <a:ext cx="946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0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BC53A5-05E7-4456-8876-9E6716BA9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67300"/>
            <a:ext cx="523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68A58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68A5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3CD2AE-261F-4CA4-844F-0B859C7B4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0673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0211D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211D"/>
                </a:solidFill>
                <a:latin typeface="Arial"/>
                <a:ea typeface="Arial"/>
                <a:cs typeface="Arial"/>
              </a:rPr>
              <a:t>Commercial repeatability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63825C-7FBE-46CF-9F55-6AD94070F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5067300"/>
            <a:ext cx="609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1615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1615B"/>
                </a:solidFill>
                <a:latin typeface="Arial"/>
                <a:ea typeface="Arial"/>
                <a:cs typeface="Arial"/>
              </a:rPr>
              <a:t>Cost to deliver, service burden, buyer acceptance and renewal evidence.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6E25EE-79CE-4218-B773-2FED917C9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150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12D3A2-8214-4EF4-9D89-ED8B4E839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57925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68A5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68A58"/>
                </a:solidFill>
                <a:latin typeface="Arial"/>
                <a:ea typeface="Arial"/>
                <a:cs typeface="Arial"/>
              </a:rPr>
              <a:t>Set budget and release tranches only after a partner, scope and decision measures are agreed.</a:t>
            </a:r>
          </a:p>
        </p:txBody>
      </p:sp>
    </p:spTree>
    <p:extLst>
      <p:ext uri="{BB962C8B-B14F-4D97-AF65-F5344CB8AC3E}">
        <p14:creationId xmlns:p14="http://schemas.microsoft.com/office/powerpoint/2010/main" val="22721956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A66ABC-3BD9-4235-9566-EB1B7E386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10211D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10211D"/>
                </a:solidFill>
                <a:latin typeface="Arial"/>
                <a:ea typeface="Arial"/>
                <a:cs typeface="Arial"/>
              </a:rPr>
              <a:t>Diligence before a deployment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83B086-2390-4378-BF47-9CC595DC5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334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0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84FA03-DB3D-4649-B02B-5C2AEB0C8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1615B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1615B"/>
                </a:solidFill>
                <a:latin typeface="Arial"/>
                <a:ea typeface="Arial"/>
                <a:cs typeface="Arial"/>
              </a:rPr>
              <a:t>Separate software readiness from mine safety, data governance and support readiness.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2B33C8-7103-427D-A4C2-8808578DC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75837C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75837C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B8C7E3-AC53-465B-B888-CEA1A3A18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24100"/>
            <a:ext cx="209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68A5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68A58"/>
                </a:solidFill>
                <a:latin typeface="Arial"/>
                <a:ea typeface="Arial"/>
                <a:cs typeface="Arial"/>
              </a:rPr>
              <a:t>BUYER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5D71D2-FE27-458B-9215-00A41A887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67000"/>
            <a:ext cx="4686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0211D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0211D"/>
                </a:solidFill>
                <a:latin typeface="Arial"/>
                <a:ea typeface="Arial"/>
                <a:cs typeface="Arial"/>
              </a:rPr>
              <a:t>Who signs, pays and owns day-to-day use?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30EEB0-3C0E-4520-8FE5-4F0AA3B26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24100"/>
            <a:ext cx="209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68A5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68A58"/>
                </a:solidFill>
                <a:latin typeface="Arial"/>
                <a:ea typeface="Arial"/>
                <a:cs typeface="Arial"/>
              </a:rPr>
              <a:t>CONNECTIVITY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3F9F61-441B-4A66-8A95-84C097987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67000"/>
            <a:ext cx="4686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0211D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0211D"/>
                </a:solidFill>
                <a:latin typeface="Arial"/>
                <a:ea typeface="Arial"/>
                <a:cs typeface="Arial"/>
              </a:rPr>
              <a:t>What are the measured underground coverage and recovery limits?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DE3342-6557-4F9C-B936-C74CD2F6D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24250"/>
            <a:ext cx="209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68A5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68A58"/>
                </a:solidFill>
                <a:latin typeface="Arial"/>
                <a:ea typeface="Arial"/>
                <a:cs typeface="Arial"/>
              </a:rPr>
              <a:t>SAFETY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E1B2B1-FD06-4C11-B216-1EFD64780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67150"/>
            <a:ext cx="4686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0211D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0211D"/>
                </a:solidFill>
                <a:latin typeface="Arial"/>
                <a:ea typeface="Arial"/>
                <a:cs typeface="Arial"/>
              </a:rPr>
              <a:t>Which devices and outputs can influence a safety action?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D83CA7-0A30-4749-ACB5-CD0D7B4D1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24250"/>
            <a:ext cx="209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68A5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68A58"/>
                </a:solidFill>
                <a:latin typeface="Arial"/>
                <a:ea typeface="Arial"/>
                <a:cs typeface="Arial"/>
              </a:rPr>
              <a:t>SECURITY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3AA55A-D4AD-4DBE-A60D-64B058F9F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67150"/>
            <a:ext cx="4686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0211D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0211D"/>
                </a:solidFill>
                <a:latin typeface="Arial"/>
                <a:ea typeface="Arial"/>
                <a:cs typeface="Arial"/>
              </a:rPr>
              <a:t>Who manages users, tokens, backups and signing keys?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E140E6-9116-4BFB-B279-13F1B7DE4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24400"/>
            <a:ext cx="209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68A5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68A58"/>
                </a:solidFill>
                <a:latin typeface="Arial"/>
                <a:ea typeface="Arial"/>
                <a:cs typeface="Arial"/>
              </a:rPr>
              <a:t>HARDWARE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F01132-601B-4486-87F1-FBF947BF0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67300"/>
            <a:ext cx="4686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0211D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0211D"/>
                </a:solidFill>
                <a:latin typeface="Arial"/>
                <a:ea typeface="Arial"/>
                <a:cs typeface="Arial"/>
              </a:rPr>
              <a:t>Who calibrates, repairs and replaces equipment?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EBDEED-C8A1-4340-9ACC-02EF5D3C3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24400"/>
            <a:ext cx="209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68A5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68A58"/>
                </a:solidFill>
                <a:latin typeface="Arial"/>
                <a:ea typeface="Arial"/>
                <a:cs typeface="Arial"/>
              </a:rPr>
              <a:t>COMMERCIAL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F1BFA8-A7D5-4A0A-9BE8-CF43B1A06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067300"/>
            <a:ext cx="4686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0211D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0211D"/>
                </a:solidFill>
                <a:latin typeface="Arial"/>
                <a:ea typeface="Arial"/>
                <a:cs typeface="Arial"/>
              </a:rPr>
              <a:t>What is the full deployment and ongoing support cost?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3D601D-3015-4220-9E15-FE082FC9E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38850"/>
            <a:ext cx="10477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1615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1615B"/>
                </a:solidFill>
                <a:latin typeface="Arial"/>
                <a:ea typeface="Arial"/>
                <a:cs typeface="Arial"/>
              </a:rPr>
              <a:t>The repository demonstrates prototype software and conceptual hardware. It does not establish regulatory approval, certified sensing, safe underground coverage or audited business results.</a:t>
            </a:r>
          </a:p>
        </p:txBody>
      </p:sp>
    </p:spTree>
    <p:extLst>
      <p:ext uri="{BB962C8B-B14F-4D97-AF65-F5344CB8AC3E}">
        <p14:creationId xmlns:p14="http://schemas.microsoft.com/office/powerpoint/2010/main" val="126120184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68A5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154F72-0C3D-4634-ACF4-817F4E072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D2E65A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D2E65A"/>
                </a:solidFill>
                <a:latin typeface="Arial"/>
                <a:ea typeface="Arial"/>
                <a:cs typeface="Arial"/>
              </a:rPr>
              <a:t>Ndarama Grid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281998-053E-4F66-8E8E-C10378398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8667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next decision is</a:t>
            </a:r>
          </a:p>
          <a:p xmlns:a="http://schemas.openxmlformats.org/drawingml/2006/main">
            <a:pPr algn="l">
              <a:defRPr sz="4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bounded pilot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075983-8EC8-4957-B705-CF0BAA1AA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57525"/>
            <a:ext cx="1000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C39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2899D9-D7AE-498B-8045-2CC3CD8FC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3852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D2E65A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D2E65A"/>
                </a:solidFill>
                <a:latin typeface="Arial"/>
                <a:ea typeface="Arial"/>
                <a:cs typeface="Arial"/>
              </a:rPr>
              <a:t>Partner needed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FB6D47-E4FB-4E82-848F-D4F787FC1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76675"/>
            <a:ext cx="8477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One mine or buying-centre partner willing to test one operational workflow and define who owns the result.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907A5B-A173-4D66-BDA3-536E94655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91100"/>
            <a:ext cx="8858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E4F2EA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E4F2EA"/>
                </a:solidFill>
                <a:latin typeface="Arial"/>
                <a:ea typeface="Arial"/>
                <a:cs typeface="Arial"/>
              </a:rPr>
              <a:t>Agree the workflow, site responsibilities, safe operating boundary and success measures before funding a larger rollout.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10CFA8-D585-4670-9B4D-00AB400D8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24600"/>
            <a:ext cx="7429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EBD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D7EBDD"/>
                </a:solidFill>
                <a:latin typeface="Arial"/>
                <a:ea typeface="Arial"/>
                <a:cs typeface="Arial"/>
              </a:rPr>
              <a:t>Discussion brief  |  30 September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376230-06FE-4B62-B3EB-6F08257DF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D7EBDD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D7EBDD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923997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2026-09-30T10:01:26.4750000Z</dcterms:created>
  <dcterms:modified xsi:type="dcterms:W3CDTF">2026-09-30T10:01:26.4760000Z</dcterms:modified>
</coreProperties>
</file>